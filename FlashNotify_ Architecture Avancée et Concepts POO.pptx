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97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jp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72B4D">
                  <a:alpha val="85000"/>
                </a:srgbClr>
              </a:gs>
              <a:gs pos="100000">
                <a:srgbClr val="172B4D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95451"/>
            <a:ext cx="6457788" cy="1371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 dirty="0" err="1">
                <a:solidFill>
                  <a:srgbClr val="FFFFFF"/>
                </a:solidFill>
              </a:rPr>
              <a:t>FlashNotify</a:t>
            </a:r>
            <a:r>
              <a:rPr sz="3588" b="1" dirty="0">
                <a:solidFill>
                  <a:srgbClr val="FFFFFF"/>
                </a:solidFill>
              </a:rPr>
              <a:t>: Architecture </a:t>
            </a:r>
            <a:r>
              <a:rPr sz="3588" b="1" dirty="0" err="1">
                <a:solidFill>
                  <a:srgbClr val="FFFFFF"/>
                </a:solidFill>
              </a:rPr>
              <a:t>Avancée</a:t>
            </a:r>
            <a:r>
              <a:rPr sz="3588" b="1" dirty="0">
                <a:solidFill>
                  <a:srgbClr val="FFFFFF"/>
                </a:solidFill>
              </a:rPr>
              <a:t> et Concepts POO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3733799"/>
            <a:ext cx="6457788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E0E6ED"/>
                </a:solidFill>
              </a:rPr>
              <a:t>Système de notification académique robuste, extensible et performant basé sur Flask/FastAPI et concepts avancés de Programmation Orientée Aspects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5512" y="1752599"/>
            <a:ext cx="1914477" cy="1819275"/>
          </a:xfrm>
          <a:prstGeom prst="roundRect">
            <a:avLst>
              <a:gd name="adj" fmla="val 1256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96007" y="1943100"/>
            <a:ext cx="153348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64B5F6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64B5F6"/>
                </a:solidFill>
              </a:rPr>
              <a:t> Architecture Hybride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007" y="2057960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96007" y="2400300"/>
            <a:ext cx="153348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Flask +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6007" y="2743200"/>
            <a:ext cx="1533486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E0E6ED"/>
                </a:solidFill>
              </a:rPr>
              <a:t>Interface web traditionnelle et API moderne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0484" y="1752599"/>
            <a:ext cx="1914477" cy="1819275"/>
          </a:xfrm>
          <a:prstGeom prst="roundRect">
            <a:avLst>
              <a:gd name="adj" fmla="val 1256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00979" y="1943100"/>
            <a:ext cx="153348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64B5F6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64B5F6"/>
                </a:solidFill>
              </a:rPr>
              <a:t> Concepts POO Avancés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0979" y="2080372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00979" y="2400300"/>
            <a:ext cx="1533486" cy="5905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Métaclasses &amp; Mixins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0979" y="3047999"/>
            <a:ext cx="1533486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E0E6ED"/>
                </a:solidFill>
              </a:rPr>
              <a:t>Auto-configuration et composition flexible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5512" y="3771900"/>
            <a:ext cx="1914477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6007" y="3962399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64B5F6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64B5F6"/>
                </a:solidFill>
              </a:rPr>
              <a:t> Performance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6007" y="3989013"/>
            <a:ext cx="190495" cy="137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96007" y="4229100"/>
            <a:ext cx="153348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Circuit Breaker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6007" y="4572000"/>
            <a:ext cx="1533486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E0E6ED"/>
                </a:solidFill>
              </a:rPr>
              <a:t>Protection contre les cascading failures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10484" y="3771900"/>
            <a:ext cx="1914477" cy="1333500"/>
          </a:xfrm>
          <a:prstGeom prst="roundRect">
            <a:avLst>
              <a:gd name="adj" fmla="val 1714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0979" y="3962399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64B5F6"/>
                </a:solidFill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64B5F6"/>
                </a:solidFill>
              </a:rPr>
              <a:t> Extensibilité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00979" y="3972205"/>
            <a:ext cx="190495" cy="1708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00979" y="4229100"/>
            <a:ext cx="1533486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+3 Canaux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0979" y="4572000"/>
            <a:ext cx="1533486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E0E6ED"/>
                </a:solidFill>
              </a:rPr>
              <a:t>Ajout de nouveaux canaux en moins d'une heure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33" y="6381749"/>
            <a:ext cx="19144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6ED"/>
                </a:solidFill>
              </a:rPr>
              <a:t>Présentation Technique •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8112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Analyse des Concepts Avancés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952499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</a:rPr>
              <a:t>Définitions, justification technique et problèmes résolus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66874"/>
            <a:ext cx="6343491" cy="151447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27" y="1895474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2064592"/>
            <a:ext cx="285742" cy="233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895474"/>
            <a:ext cx="512432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D3748"/>
                </a:solidFill>
              </a:rPr>
              <a:t>Métaclasses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308" y="2266950"/>
            <a:ext cx="5124321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4A5568"/>
                </a:solidFill>
              </a:rPr>
              <a:t>Classes qui créent des classes, contrôlant la création et le comportement des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7308" y="2762249"/>
            <a:ext cx="51243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A5568"/>
                </a:solidFill>
              </a:rPr>
              <a:t> </a:t>
            </a:r>
            <a:r>
              <a:rPr sz="956" b="1">
                <a:solidFill>
                  <a:srgbClr val="4A5568"/>
                </a:solidFill>
              </a:rPr>
              <a:t>Auto-configuration</a:t>
            </a:r>
            <a:r>
              <a:rPr sz="956" b="0">
                <a:solidFill>
                  <a:srgbClr val="4A5568"/>
                </a:solidFill>
              </a:rPr>
              <a:t> et génération de validateurs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08" y="2782836"/>
            <a:ext cx="171445" cy="1493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6733" y="3371850"/>
            <a:ext cx="6343491" cy="1323974"/>
          </a:xfrm>
          <a:prstGeom prst="roundRect">
            <a:avLst>
              <a:gd name="adj" fmla="val 1726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5327" y="360045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3757904"/>
            <a:ext cx="285742" cy="2565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57308" y="3600450"/>
            <a:ext cx="512432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D3748"/>
                </a:solidFill>
              </a:rPr>
              <a:t>Décorateurs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308" y="3971925"/>
            <a:ext cx="51243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4A5568"/>
                </a:solidFill>
              </a:rPr>
              <a:t>Fonctions qui modifient le comportement d'autres fonctions ou méthodes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308" y="4276725"/>
            <a:ext cx="51243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A5568"/>
                </a:solidFill>
              </a:rPr>
              <a:t> </a:t>
            </a:r>
            <a:r>
              <a:rPr sz="956" b="1">
                <a:solidFill>
                  <a:srgbClr val="4A5568"/>
                </a:solidFill>
              </a:rPr>
              <a:t>Fonctionnalités transverses</a:t>
            </a:r>
            <a:r>
              <a:rPr sz="956" b="0">
                <a:solidFill>
                  <a:srgbClr val="4A5568"/>
                </a:solidFill>
              </a:rPr>
              <a:t> (performance, circuit breaker)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08" y="4297311"/>
            <a:ext cx="171445" cy="14932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6733" y="4886325"/>
            <a:ext cx="6343491" cy="1323974"/>
          </a:xfrm>
          <a:prstGeom prst="roundRect">
            <a:avLst>
              <a:gd name="adj" fmla="val 1726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5327" y="5114925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8199" y="5295705"/>
            <a:ext cx="285742" cy="2099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57308" y="5114925"/>
            <a:ext cx="512432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2D3748"/>
                </a:solidFill>
              </a:rPr>
              <a:t>Mixins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7308" y="5486400"/>
            <a:ext cx="51243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4A5568"/>
                </a:solidFill>
              </a:rPr>
              <a:t>Classes réutilisables qui ajoutent des fonctionnalités via héritage multiple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7308" y="5791200"/>
            <a:ext cx="51243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4A5568"/>
                </a:solidFill>
              </a:rPr>
              <a:t> </a:t>
            </a:r>
            <a:r>
              <a:rPr sz="956" b="1">
                <a:solidFill>
                  <a:srgbClr val="4A5568"/>
                </a:solidFill>
              </a:rPr>
              <a:t>Composition flexible</a:t>
            </a:r>
            <a:r>
              <a:rPr sz="956" b="0">
                <a:solidFill>
                  <a:srgbClr val="4A5568"/>
                </a:solidFill>
              </a:rPr>
              <a:t> des canaux de notification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308" y="5811786"/>
            <a:ext cx="171445" cy="14932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295967" y="1666874"/>
            <a:ext cx="4228994" cy="393382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5967" y="4781549"/>
            <a:ext cx="4228994" cy="819149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86462" y="4972050"/>
            <a:ext cx="384800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Hiérarchie des métaclasses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6462" y="5238749"/>
            <a:ext cx="3848003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Object → Class → Metaclass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5967" y="5791200"/>
            <a:ext cx="4228994" cy="1790700"/>
          </a:xfrm>
          <a:prstGeom prst="roundRect">
            <a:avLst>
              <a:gd name="adj" fmla="val 12765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86462" y="5981699"/>
            <a:ext cx="38480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2D3748"/>
                </a:solidFill>
              </a:rPr>
              <a:t> Problèmes Résolus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6462" y="5998844"/>
            <a:ext cx="228594" cy="19430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6462" y="635471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34106" y="6324599"/>
            <a:ext cx="214307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Configuration manuelle répétitive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6462" y="662141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34106" y="6591300"/>
            <a:ext cx="179065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Code dupliqué entre canaux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6462" y="6888111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34106" y="6858000"/>
            <a:ext cx="24478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Fonctionnalités transverses dispersées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6462" y="7154811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734106" y="7124699"/>
            <a:ext cx="12477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Extensibilité limitée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7962899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6733" y="8105774"/>
            <a:ext cx="281932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FlashNotify: Architecture Avancée et Concepts POO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3496" y="8105774"/>
            <a:ext cx="37146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8112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Implémentation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952499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</a:rPr>
              <a:t>Exemples concrets de code avec avant/après et impact sur la maintenabilité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66874"/>
            <a:ext cx="6343491" cy="1476375"/>
          </a:xfrm>
          <a:prstGeom prst="roundRect">
            <a:avLst>
              <a:gd name="adj" fmla="val 1548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28" y="1571625"/>
            <a:ext cx="2038299" cy="247649"/>
          </a:xfrm>
          <a:prstGeom prst="roundRect">
            <a:avLst>
              <a:gd name="adj" fmla="val 153846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28" y="1571625"/>
            <a:ext cx="203829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AVANT - Configuration Manuelle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952624"/>
            <a:ext cx="5962500" cy="10001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class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AcademicNotifier</a:t>
            </a:r>
            <a:r>
              <a:rPr sz="837" b="0">
                <a:solidFill>
                  <a:srgbClr val="2D3748"/>
                </a:solidFill>
              </a:rPr>
              <a:t>: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__init__</a:t>
            </a:r>
            <a:r>
              <a:rPr sz="837" b="0">
                <a:solidFill>
                  <a:srgbClr val="2D3748"/>
                </a:solidFill>
              </a:rPr>
              <a:t>(self): </a:t>
            </a:r>
            <a:r>
              <a:rPr sz="837" b="0">
                <a:solidFill>
                  <a:srgbClr val="718096"/>
                </a:solidFill>
              </a:rPr>
              <a:t># Configuration manuelle répétitive</a:t>
            </a:r>
            <a:r>
              <a:rPr sz="837" b="0">
                <a:solidFill>
                  <a:srgbClr val="2D3748"/>
                </a:solidFill>
              </a:rPr>
              <a:t> self._validators = [] self._register_channels() self._setup_circuit_breaker() self._configure_logging()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_register_channels</a:t>
            </a:r>
            <a:r>
              <a:rPr sz="837" b="0">
                <a:solidFill>
                  <a:srgbClr val="2D3748"/>
                </a:solidFill>
              </a:rPr>
              <a:t>(self): </a:t>
            </a:r>
            <a:r>
              <a:rPr sz="837" b="0">
                <a:solidFill>
                  <a:srgbClr val="718096"/>
                </a:solidFill>
              </a:rPr>
              <a:t># Enregistrement manuel des canaux</a:t>
            </a:r>
            <a:r>
              <a:rPr sz="837" b="0">
                <a:solidFill>
                  <a:srgbClr val="2D3748"/>
                </a:solidFill>
              </a:rPr>
              <a:t> self.channels = { </a:t>
            </a:r>
            <a:r>
              <a:rPr sz="837" b="0">
                <a:solidFill>
                  <a:srgbClr val="48BB78"/>
                </a:solidFill>
              </a:rPr>
              <a:t>'email'</a:t>
            </a:r>
            <a:r>
              <a:rPr sz="837" b="0">
                <a:solidFill>
                  <a:srgbClr val="2D3748"/>
                </a:solidFill>
              </a:rPr>
              <a:t>: EmailChannel(), </a:t>
            </a:r>
            <a:r>
              <a:rPr sz="837" b="0">
                <a:solidFill>
                  <a:srgbClr val="48BB78"/>
                </a:solidFill>
              </a:rPr>
              <a:t>'sms'</a:t>
            </a:r>
            <a:r>
              <a:rPr sz="837" b="0">
                <a:solidFill>
                  <a:srgbClr val="2D3748"/>
                </a:solidFill>
              </a:rPr>
              <a:t>: SMSChannel(), </a:t>
            </a:r>
            <a:r>
              <a:rPr sz="837" b="0">
                <a:solidFill>
                  <a:srgbClr val="48BB78"/>
                </a:solidFill>
              </a:rPr>
              <a:t>'push'</a:t>
            </a:r>
            <a:r>
              <a:rPr sz="837" b="0">
                <a:solidFill>
                  <a:srgbClr val="2D3748"/>
                </a:solidFill>
              </a:rPr>
              <a:t>: PushChannel() }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333749"/>
            <a:ext cx="6343491" cy="16764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228" y="3238500"/>
            <a:ext cx="2800279" cy="247649"/>
          </a:xfrm>
          <a:prstGeom prst="roundRect">
            <a:avLst>
              <a:gd name="adj" fmla="val 153846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228" y="3238500"/>
            <a:ext cx="280027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APRÈS - Auto-Configuration avec Métaclasses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28" y="3619499"/>
            <a:ext cx="5962500" cy="12001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@auto_configuration_validation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class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AcademicNotifier</a:t>
            </a:r>
            <a:r>
              <a:rPr sz="837" b="0">
                <a:solidFill>
                  <a:srgbClr val="2D3748"/>
                </a:solidFill>
              </a:rPr>
              <a:t>(SMSMixin, EmailMixin, PushNotificationMixin): required_fields = [</a:t>
            </a:r>
            <a:r>
              <a:rPr sz="837" b="0">
                <a:solidFill>
                  <a:srgbClr val="48BB78"/>
                </a:solidFill>
              </a:rPr>
              <a:t>'title'</a:t>
            </a:r>
            <a:r>
              <a:rPr sz="837" b="0">
                <a:solidFill>
                  <a:srgbClr val="2D3748"/>
                </a:solidFill>
              </a:rPr>
              <a:t>, </a:t>
            </a:r>
            <a:r>
              <a:rPr sz="837" b="0">
                <a:solidFill>
                  <a:srgbClr val="48BB78"/>
                </a:solidFill>
              </a:rPr>
              <a:t>'body'</a:t>
            </a:r>
            <a:r>
              <a:rPr sz="837" b="0">
                <a:solidFill>
                  <a:srgbClr val="2D3748"/>
                </a:solidFill>
              </a:rPr>
              <a:t>] </a:t>
            </a:r>
            <a:r>
              <a:rPr sz="837" b="0">
                <a:solidFill>
                  <a:srgbClr val="718096"/>
                </a:solidFill>
              </a:rPr>
              <a:t># Configuration automatique appliquée par la métaclasse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Validation automatique des champs requis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Enregistrement automatique des canaux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Configuration du circuit breaker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notify</a:t>
            </a:r>
            <a:r>
              <a:rPr sz="837" b="0">
                <a:solidFill>
                  <a:srgbClr val="2D3748"/>
                </a:solidFill>
              </a:rPr>
              <a:t>(self, user, title, body, emergency_type): </a:t>
            </a:r>
            <a:r>
              <a:rPr sz="837" b="0">
                <a:solidFill>
                  <a:srgbClr val="718096"/>
                </a:solidFill>
              </a:rPr>
              <a:t># Logique métier pure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pass</a:t>
            </a:r>
            <a:r>
              <a:rPr sz="837" b="0">
                <a:solidFill>
                  <a:srgbClr val="2D3748"/>
                </a:solidFill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5200650"/>
            <a:ext cx="6343491" cy="1476375"/>
          </a:xfrm>
          <a:prstGeom prst="roundRect">
            <a:avLst>
              <a:gd name="adj" fmla="val 1548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7228" y="5105400"/>
            <a:ext cx="2762180" cy="247649"/>
          </a:xfrm>
          <a:prstGeom prst="roundRect">
            <a:avLst>
              <a:gd name="adj" fmla="val 153846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228" y="5105400"/>
            <a:ext cx="276218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DÉCORATEURS - Fonctionnalités Transverses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5486400"/>
            <a:ext cx="5962500" cy="10001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@add_performance_tracking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@add_circuit_breaker</a:t>
            </a:r>
            <a:r>
              <a:rPr sz="837" b="0">
                <a:solidFill>
                  <a:srgbClr val="2D3748"/>
                </a:solidFill>
              </a:rPr>
              <a:t>(max_failures=5) </a:t>
            </a:r>
            <a:r>
              <a:rPr sz="837" b="1">
                <a:solidFill>
                  <a:srgbClr val="9F7AEA"/>
                </a:solidFill>
              </a:rPr>
              <a:t>@log_notification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@retry_on_failure</a:t>
            </a:r>
            <a:r>
              <a:rPr sz="837" b="0">
                <a:solidFill>
                  <a:srgbClr val="2D3748"/>
                </a:solidFill>
              </a:rPr>
              <a:t>(retries=3)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send_notification</a:t>
            </a:r>
            <a:r>
              <a:rPr sz="837" b="0">
                <a:solidFill>
                  <a:srgbClr val="2D3748"/>
                </a:solidFill>
              </a:rPr>
              <a:t>(self, data): </a:t>
            </a:r>
            <a:r>
              <a:rPr sz="837" b="0">
                <a:solidFill>
                  <a:srgbClr val="718096"/>
                </a:solidFill>
              </a:rPr>
              <a:t># Surveillance automatique appliquée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Temps d'exécution mesuré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Protection contre les pannes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Logging automatique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718096"/>
                </a:solidFill>
              </a:rPr>
              <a:t># • Retry avec backoff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return</a:t>
            </a:r>
            <a:r>
              <a:rPr sz="837" b="0">
                <a:solidFill>
                  <a:srgbClr val="2D3748"/>
                </a:solidFill>
              </a:rPr>
              <a:t> self._send_notification_impl(data)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5967" y="1666874"/>
            <a:ext cx="4228994" cy="228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95967" y="4143375"/>
            <a:ext cx="4228994" cy="3152775"/>
          </a:xfrm>
          <a:prstGeom prst="roundRect">
            <a:avLst>
              <a:gd name="adj" fmla="val 725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86462" y="4333875"/>
            <a:ext cx="38480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2D3748"/>
                </a:solidFill>
              </a:rPr>
              <a:t> Impact sur la Maintenabilité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6462" y="4359592"/>
            <a:ext cx="228594" cy="17716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486462" y="47434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660" y="4871084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10324" y="4705350"/>
            <a:ext cx="33241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Vitesse de Développement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324" y="4924424"/>
            <a:ext cx="332414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Nouveaux canaux ajoutés en </a:t>
            </a:r>
            <a:r>
              <a:rPr sz="1196" b="1">
                <a:solidFill>
                  <a:srgbClr val="38A169"/>
                </a:solidFill>
              </a:rPr>
              <a:t>3x moins de temps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6462" y="53435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2660" y="547115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10324" y="5305425"/>
            <a:ext cx="33241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Complexité Cyclomatique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324" y="5524499"/>
            <a:ext cx="332414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Réduction de </a:t>
            </a:r>
            <a:r>
              <a:rPr sz="1196" b="1">
                <a:solidFill>
                  <a:srgbClr val="38A169"/>
                </a:solidFill>
              </a:rPr>
              <a:t>40%</a:t>
            </a:r>
            <a:r>
              <a:rPr sz="837" b="0">
                <a:solidFill>
                  <a:srgbClr val="4A5568"/>
                </a:solidFill>
              </a:rPr>
              <a:t> par classe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6462" y="59436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2660" y="6071234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10324" y="5905500"/>
            <a:ext cx="33241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Erreurs de 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324" y="6124574"/>
            <a:ext cx="332414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Diminution de </a:t>
            </a:r>
            <a:r>
              <a:rPr sz="1196" b="1">
                <a:solidFill>
                  <a:srgbClr val="38A169"/>
                </a:solidFill>
              </a:rPr>
              <a:t>80%</a:t>
            </a:r>
            <a:r>
              <a:rPr sz="837" b="0">
                <a:solidFill>
                  <a:srgbClr val="4A5568"/>
                </a:solidFill>
              </a:rPr>
              <a:t> grâce à l'auto-configuration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6462" y="654367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660" y="6671309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10324" y="6505575"/>
            <a:ext cx="332414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Test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324" y="6724649"/>
            <a:ext cx="332414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Augmentation à </a:t>
            </a:r>
            <a:r>
              <a:rPr sz="1196" b="1">
                <a:solidFill>
                  <a:srgbClr val="38A169"/>
                </a:solidFill>
              </a:rPr>
              <a:t>92%</a:t>
            </a:r>
            <a:r>
              <a:rPr sz="837" b="0">
                <a:solidFill>
                  <a:srgbClr val="4A5568"/>
                </a:solidFill>
              </a:rPr>
              <a:t> avec tests isolés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7677149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733" y="7820024"/>
            <a:ext cx="281932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FlashNotify: Architecture Avancée et Concepts POO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3496" y="7820024"/>
            <a:ext cx="37146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8112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Intégration Framework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952499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</a:rPr>
              <a:t>Justification du choix du framework et points d'intégration des concepts POO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66874"/>
            <a:ext cx="5314817" cy="1581149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28" y="1866899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2000" y="1999835"/>
            <a:ext cx="266693" cy="19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76338" y="1857375"/>
            <a:ext cx="431471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2D3748"/>
                </a:solidFill>
              </a:rPr>
              <a:t>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338" y="2171700"/>
            <a:ext cx="431471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Interface Web Traditionnelle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2486025"/>
            <a:ext cx="866753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228" y="2486025"/>
            <a:ext cx="866753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Sessions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544535"/>
            <a:ext cx="152396" cy="1306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00179" y="2486025"/>
            <a:ext cx="962000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179" y="2486025"/>
            <a:ext cx="96200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Templates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27" y="2544535"/>
            <a:ext cx="152396" cy="1306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828854" y="2486025"/>
            <a:ext cx="1047723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28854" y="2486025"/>
            <a:ext cx="1047723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Formulaires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101" y="2544535"/>
            <a:ext cx="152396" cy="1306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952776" y="2486025"/>
            <a:ext cx="1381090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2776" y="2486025"/>
            <a:ext cx="1381090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Admin Dashboard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023" y="2544535"/>
            <a:ext cx="152396" cy="13062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10144" y="1666874"/>
            <a:ext cx="5314817" cy="1581149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639" y="1866899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4937" y="1970846"/>
            <a:ext cx="266693" cy="24930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29274" y="1857375"/>
            <a:ext cx="431471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2D3748"/>
                </a:solidFill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9274" y="2171700"/>
            <a:ext cx="431471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API REST Moderne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639" y="2486025"/>
            <a:ext cx="1533486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639" y="2486025"/>
            <a:ext cx="1533486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Documentation Auto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2544535"/>
            <a:ext cx="152396" cy="1306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019849" y="2486025"/>
            <a:ext cx="1457288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19849" y="2486025"/>
            <a:ext cx="1457288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Validation Pydantic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5097" y="2544535"/>
            <a:ext cx="152396" cy="13062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53336" y="2486025"/>
            <a:ext cx="1000099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3336" y="2486025"/>
            <a:ext cx="1000099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Async Natif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8583" y="2544535"/>
            <a:ext cx="152396" cy="13062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400639" y="2809875"/>
            <a:ext cx="971525" cy="247649"/>
          </a:xfrm>
          <a:prstGeom prst="roundRect">
            <a:avLst>
              <a:gd name="adj" fmla="val 15384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639" y="2809875"/>
            <a:ext cx="971525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A5568"/>
                </a:solidFill>
              </a:rPr>
              <a:t> Type Hints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87" y="2868385"/>
            <a:ext cx="152396" cy="13062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66733" y="3486150"/>
            <a:ext cx="6257768" cy="4181474"/>
          </a:xfrm>
          <a:prstGeom prst="roundRect">
            <a:avLst>
              <a:gd name="adj" fmla="val 546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9604" y="3629025"/>
            <a:ext cx="59720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2D3748"/>
                </a:solidFill>
              </a:rPr>
              <a:t> Architecture Complète de l'Application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604" y="3654742"/>
            <a:ext cx="228594" cy="17716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09604" y="3952874"/>
            <a:ext cx="5972025" cy="357187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162620" y="3486150"/>
            <a:ext cx="4362340" cy="4181474"/>
          </a:xfrm>
          <a:prstGeom prst="roundRect">
            <a:avLst>
              <a:gd name="adj" fmla="val 5466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53116" y="3676649"/>
            <a:ext cx="39813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2D3748"/>
                </a:solidFill>
              </a:rPr>
              <a:t> Points d'Intégration POO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3116" y="3692366"/>
            <a:ext cx="228594" cy="197167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3116" y="4083983"/>
            <a:ext cx="190495" cy="15688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638859" y="4048124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Métaclasses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8859" y="4267199"/>
            <a:ext cx="36956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Auto-configuration des notificateurs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3116" y="4581805"/>
            <a:ext cx="190495" cy="17088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638859" y="4552949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Décorateurs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8859" y="4772025"/>
            <a:ext cx="36956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Validation et tracking performance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53116" y="5100637"/>
            <a:ext cx="190495" cy="14287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38859" y="5057775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Mixins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8859" y="5276850"/>
            <a:ext cx="36956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Composition des canaux de notification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53116" y="5595657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638859" y="5562600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Descripteurs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8859" y="5781674"/>
            <a:ext cx="36956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Validation des données utilisateur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53116" y="6100482"/>
            <a:ext cx="190495" cy="1624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38859" y="6067424"/>
            <a:ext cx="369560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Files d'Attente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8859" y="6286500"/>
            <a:ext cx="3695607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ThreadPool (Flask) et AsyncIO (FastAPI)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8048624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6733" y="8191499"/>
            <a:ext cx="281932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FlashNotify: Architecture Avancée et Concepts POO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3496" y="8191499"/>
            <a:ext cx="37146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8112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Démonstration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952499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</a:rPr>
              <a:t>Scénario: "Ajout d'un nouveau type de notification" avec validation automatique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66874"/>
            <a:ext cx="5819629" cy="247649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28" y="1857375"/>
            <a:ext cx="54386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D3748"/>
                </a:solidFill>
              </a:rPr>
              <a:t> Ajout d'un Nouveau Canal: Discord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887192"/>
            <a:ext cx="266693" cy="2261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7228" y="229552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28" y="2295525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2991" y="2295525"/>
            <a:ext cx="495287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2D3748"/>
                </a:solidFill>
              </a:rPr>
              <a:t>Créer le Mixin Discord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2991" y="2562224"/>
            <a:ext cx="495287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Implémentation du canal de notification Discord avec webhook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28956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228" y="2895600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2991" y="2895600"/>
            <a:ext cx="495287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2D3748"/>
                </a:solidFill>
              </a:rPr>
              <a:t>Intégrer dans AcademicNotifier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2991" y="3162299"/>
            <a:ext cx="495287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Ajout du mixin à la liste d'héritage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349567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228" y="3495675"/>
            <a:ext cx="34289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2991" y="3495675"/>
            <a:ext cx="495287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2D3748"/>
                </a:solidFill>
              </a:rPr>
              <a:t>Tester et Valider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2991" y="3762374"/>
            <a:ext cx="495287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Validation automatique via descripteurs et décorateurs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333875"/>
            <a:ext cx="5819629" cy="2571750"/>
          </a:xfrm>
          <a:prstGeom prst="roundRect">
            <a:avLst>
              <a:gd name="adj" fmla="val 8888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86242" y="4429125"/>
            <a:ext cx="1104872" cy="247649"/>
          </a:xfrm>
          <a:prstGeom prst="roundRect">
            <a:avLst>
              <a:gd name="adj" fmla="val 153846"/>
            </a:avLst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86242" y="4429125"/>
            <a:ext cx="1104872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CODE EXEMPLE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28" y="4619625"/>
            <a:ext cx="5438639" cy="20954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65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class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DiscordMixin</a:t>
            </a:r>
            <a:r>
              <a:rPr sz="837" b="0">
                <a:solidFill>
                  <a:srgbClr val="2D3748"/>
                </a:solidFill>
              </a:rPr>
              <a:t>: channel_type = </a:t>
            </a:r>
            <a:r>
              <a:rPr sz="837" b="0">
                <a:solidFill>
                  <a:srgbClr val="48BB78"/>
                </a:solidFill>
              </a:rPr>
              <a:t>'discord'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__init__</a:t>
            </a:r>
            <a:r>
              <a:rPr sz="837" b="0">
                <a:solidFill>
                  <a:srgbClr val="2D3748"/>
                </a:solidFill>
              </a:rPr>
              <a:t>(self): self.webhook_url = os.getenv(</a:t>
            </a:r>
            <a:r>
              <a:rPr sz="837" b="0">
                <a:solidFill>
                  <a:srgbClr val="48BB78"/>
                </a:solidFill>
              </a:rPr>
              <a:t>'DISCORD_WEBHOOK_URL'</a:t>
            </a:r>
            <a:r>
              <a:rPr sz="837" b="0">
                <a:solidFill>
                  <a:srgbClr val="2D3748"/>
                </a:solidFill>
              </a:rPr>
              <a:t>) </a:t>
            </a:r>
            <a:r>
              <a:rPr sz="837" b="1">
                <a:solidFill>
                  <a:srgbClr val="9F7AEA"/>
                </a:solidFill>
              </a:rPr>
              <a:t>@log_notification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@retry_on_failure</a:t>
            </a:r>
            <a:r>
              <a:rPr sz="837" b="0">
                <a:solidFill>
                  <a:srgbClr val="2D3748"/>
                </a:solidFill>
              </a:rPr>
              <a:t>(retries=3) </a:t>
            </a:r>
            <a:r>
              <a:rPr sz="837" b="1">
                <a:solidFill>
                  <a:srgbClr val="9F7AEA"/>
                </a:solidFill>
              </a:rPr>
              <a:t>def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send_discord</a:t>
            </a:r>
            <a:r>
              <a:rPr sz="837" b="0">
                <a:solidFill>
                  <a:srgbClr val="2D3748"/>
                </a:solidFill>
              </a:rPr>
              <a:t>(self, message, username=</a:t>
            </a:r>
            <a:r>
              <a:rPr sz="837" b="0">
                <a:solidFill>
                  <a:srgbClr val="48BB78"/>
                </a:solidFill>
              </a:rPr>
              <a:t>"FlashNotify"</a:t>
            </a:r>
            <a:r>
              <a:rPr sz="837" b="0">
                <a:solidFill>
                  <a:srgbClr val="2D3748"/>
                </a:solidFill>
              </a:rPr>
              <a:t>): </a:t>
            </a:r>
            <a:r>
              <a:rPr sz="837" b="0">
                <a:solidFill>
                  <a:srgbClr val="718096"/>
                </a:solidFill>
              </a:rPr>
              <a:t># Envoi vers Discord via webhook</a:t>
            </a:r>
            <a:r>
              <a:rPr sz="837" b="0">
                <a:solidFill>
                  <a:srgbClr val="2D3748"/>
                </a:solidFill>
              </a:rPr>
              <a:t> data = { </a:t>
            </a:r>
            <a:r>
              <a:rPr sz="837" b="0">
                <a:solidFill>
                  <a:srgbClr val="48BB78"/>
                </a:solidFill>
              </a:rPr>
              <a:t>'content'</a:t>
            </a:r>
            <a:r>
              <a:rPr sz="837" b="0">
                <a:solidFill>
                  <a:srgbClr val="2D3748"/>
                </a:solidFill>
              </a:rPr>
              <a:t>: message, </a:t>
            </a:r>
            <a:r>
              <a:rPr sz="837" b="0">
                <a:solidFill>
                  <a:srgbClr val="48BB78"/>
                </a:solidFill>
              </a:rPr>
              <a:t>'username'</a:t>
            </a:r>
            <a:r>
              <a:rPr sz="837" b="0">
                <a:solidFill>
                  <a:srgbClr val="2D3748"/>
                </a:solidFill>
              </a:rPr>
              <a:t>: username, </a:t>
            </a:r>
            <a:r>
              <a:rPr sz="837" b="0">
                <a:solidFill>
                  <a:srgbClr val="48BB78"/>
                </a:solidFill>
              </a:rPr>
              <a:t>'embeds'</a:t>
            </a:r>
            <a:r>
              <a:rPr sz="837" b="0">
                <a:solidFill>
                  <a:srgbClr val="2D3748"/>
                </a:solidFill>
              </a:rPr>
              <a:t>: [{ </a:t>
            </a:r>
            <a:r>
              <a:rPr sz="837" b="0">
                <a:solidFill>
                  <a:srgbClr val="48BB78"/>
                </a:solidFill>
              </a:rPr>
              <a:t>'title'</a:t>
            </a:r>
            <a:r>
              <a:rPr sz="837" b="0">
                <a:solidFill>
                  <a:srgbClr val="2D3748"/>
                </a:solidFill>
              </a:rPr>
              <a:t>: </a:t>
            </a:r>
            <a:r>
              <a:rPr sz="837" b="0">
                <a:solidFill>
                  <a:srgbClr val="48BB78"/>
                </a:solidFill>
              </a:rPr>
              <a:t>'Notification FlashNotify'</a:t>
            </a:r>
            <a:r>
              <a:rPr sz="837" b="0">
                <a:solidFill>
                  <a:srgbClr val="2D3748"/>
                </a:solidFill>
              </a:rPr>
              <a:t>, </a:t>
            </a:r>
            <a:r>
              <a:rPr sz="837" b="0">
                <a:solidFill>
                  <a:srgbClr val="48BB78"/>
                </a:solidFill>
              </a:rPr>
              <a:t>'description'</a:t>
            </a:r>
            <a:r>
              <a:rPr sz="837" b="0">
                <a:solidFill>
                  <a:srgbClr val="2D3748"/>
                </a:solidFill>
              </a:rPr>
              <a:t>: message, </a:t>
            </a:r>
            <a:r>
              <a:rPr sz="837" b="0">
                <a:solidFill>
                  <a:srgbClr val="48BB78"/>
                </a:solidFill>
              </a:rPr>
              <a:t>'color'</a:t>
            </a:r>
            <a:r>
              <a:rPr sz="837" b="0">
                <a:solidFill>
                  <a:srgbClr val="2D3748"/>
                </a:solidFill>
              </a:rPr>
              <a:t>: 0x00ff00 }] } response = requests.post(self.webhook_url, json=data) response.raise_for_status() </a:t>
            </a:r>
            <a:r>
              <a:rPr sz="837" b="1">
                <a:solidFill>
                  <a:srgbClr val="9F7AEA"/>
                </a:solidFill>
              </a:rPr>
              <a:t>return</a:t>
            </a:r>
            <a:r>
              <a:rPr sz="837" b="0">
                <a:solidFill>
                  <a:srgbClr val="2D3748"/>
                </a:solidFill>
              </a:rPr>
              <a:t> { </a:t>
            </a:r>
            <a:r>
              <a:rPr sz="837" b="0">
                <a:solidFill>
                  <a:srgbClr val="48BB78"/>
                </a:solidFill>
              </a:rPr>
              <a:t>'status'</a:t>
            </a:r>
            <a:r>
              <a:rPr sz="837" b="0">
                <a:solidFill>
                  <a:srgbClr val="2D3748"/>
                </a:solidFill>
              </a:rPr>
              <a:t>: </a:t>
            </a:r>
            <a:r>
              <a:rPr sz="837" b="0">
                <a:solidFill>
                  <a:srgbClr val="48BB78"/>
                </a:solidFill>
              </a:rPr>
              <a:t>'success'</a:t>
            </a:r>
            <a:r>
              <a:rPr sz="837" b="0">
                <a:solidFill>
                  <a:srgbClr val="2D3748"/>
                </a:solidFill>
              </a:rPr>
              <a:t>, </a:t>
            </a:r>
            <a:r>
              <a:rPr sz="837" b="0">
                <a:solidFill>
                  <a:srgbClr val="48BB78"/>
                </a:solidFill>
              </a:rPr>
              <a:t>'channel'</a:t>
            </a:r>
            <a:r>
              <a:rPr sz="837" b="0">
                <a:solidFill>
                  <a:srgbClr val="2D3748"/>
                </a:solidFill>
              </a:rPr>
              <a:t>: </a:t>
            </a:r>
            <a:r>
              <a:rPr sz="837" b="0">
                <a:solidFill>
                  <a:srgbClr val="48BB78"/>
                </a:solidFill>
              </a:rPr>
              <a:t>'Discord'</a:t>
            </a:r>
            <a:r>
              <a:rPr sz="837" b="0">
                <a:solidFill>
                  <a:srgbClr val="2D3748"/>
                </a:solidFill>
              </a:rPr>
              <a:t>, </a:t>
            </a:r>
            <a:r>
              <a:rPr sz="837" b="0">
                <a:solidFill>
                  <a:srgbClr val="48BB78"/>
                </a:solidFill>
              </a:rPr>
              <a:t>'message'</a:t>
            </a:r>
            <a:r>
              <a:rPr sz="837" b="0">
                <a:solidFill>
                  <a:srgbClr val="2D3748"/>
                </a:solidFill>
              </a:rPr>
              <a:t>: message } </a:t>
            </a:r>
            <a:r>
              <a:rPr sz="837" b="0">
                <a:solidFill>
                  <a:srgbClr val="718096"/>
                </a:solidFill>
              </a:rPr>
              <a:t>// Intégration dans le notificateur principal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1">
                <a:solidFill>
                  <a:srgbClr val="9F7AEA"/>
                </a:solidFill>
              </a:rPr>
              <a:t>class</a:t>
            </a:r>
            <a:r>
              <a:rPr sz="837" b="0">
                <a:solidFill>
                  <a:srgbClr val="2D3748"/>
                </a:solidFill>
              </a:rPr>
              <a:t> </a:t>
            </a:r>
            <a:r>
              <a:rPr sz="837" b="0">
                <a:solidFill>
                  <a:srgbClr val="4299E1"/>
                </a:solidFill>
              </a:rPr>
              <a:t>AcademicNotifier</a:t>
            </a:r>
            <a:r>
              <a:rPr sz="837" b="0">
                <a:solidFill>
                  <a:srgbClr val="2D3748"/>
                </a:solidFill>
              </a:rPr>
              <a:t>(SMSMixin, EmailMixin, PushNotificationMixin, DiscordMixin, FormattingMixin, ArchiveMixin): </a:t>
            </a:r>
            <a:r>
              <a:rPr sz="837" b="1">
                <a:solidFill>
                  <a:srgbClr val="9F7AEA"/>
                </a:solidFill>
              </a:rPr>
              <a:t>pass</a:t>
            </a:r>
            <a:r>
              <a:rPr sz="837" b="0">
                <a:solidFill>
                  <a:srgbClr val="2D3748"/>
                </a:solidFill>
              </a:rPr>
              <a:t>  </a:t>
            </a:r>
            <a:r>
              <a:rPr sz="837" b="0">
                <a:solidFill>
                  <a:srgbClr val="718096"/>
                </a:solidFill>
              </a:rPr>
              <a:t>// Héritage multiple contrôlé</a:t>
            </a:r>
            <a:r>
              <a:rPr sz="837" b="0">
                <a:solidFill>
                  <a:srgbClr val="2D3748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2580" y="1666874"/>
            <a:ext cx="4762380" cy="2286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2580" y="4143375"/>
            <a:ext cx="4762380" cy="266700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53076" y="4333875"/>
            <a:ext cx="438139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2D3748"/>
                </a:solidFill>
              </a:rPr>
              <a:t> Validation Automatique en Action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076" y="4354829"/>
            <a:ext cx="228594" cy="2057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953076" y="47148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0224" y="4803826"/>
            <a:ext cx="171445" cy="1078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53116" y="4714875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Validation des Descripteurs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3116" y="4933950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Vérification automatique du format webhook URL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3076" y="52197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0224" y="5308651"/>
            <a:ext cx="171445" cy="10784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53116" y="5219700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Décorateurs Appliqués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3116" y="5438774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Tracking performance et retry automatique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53076" y="57245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0224" y="5813476"/>
            <a:ext cx="171445" cy="10784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53116" y="5724524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Métaclasse Auto-Configuration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3116" y="5943600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Enregistrement automatique du nouveau canal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53076" y="62293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8BB7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0224" y="6318301"/>
            <a:ext cx="171445" cy="10784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53116" y="6229350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Circuit Breaker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3116" y="6448425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Protection contre les pannes Discord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8991599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6733" y="9134474"/>
            <a:ext cx="281932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FlashNotify: Architecture Avancée et Concepts POO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3496" y="9134474"/>
            <a:ext cx="37146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8112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Analyse des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952499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</a:rPr>
              <a:t>Métriques de qualité améliorées, leçons apprises et 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666874"/>
            <a:ext cx="5819629" cy="4276725"/>
          </a:xfrm>
          <a:prstGeom prst="roundRect">
            <a:avLst>
              <a:gd name="adj" fmla="val 5345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28" y="1857375"/>
            <a:ext cx="543863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D3748"/>
                </a:solidFill>
              </a:rPr>
              <a:t> Améliorations Qualitatives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895889"/>
            <a:ext cx="266693" cy="2087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7228" y="2343150"/>
            <a:ext cx="2619309" cy="1609724"/>
          </a:xfrm>
          <a:prstGeom prst="roundRect">
            <a:avLst>
              <a:gd name="adj" fmla="val 11834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199" y="2551386"/>
            <a:ext cx="342891" cy="3074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8239" y="3019424"/>
            <a:ext cx="145728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D3748"/>
                </a:solidFill>
              </a:rPr>
              <a:t>Couverture de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23" y="3333749"/>
            <a:ext cx="2238319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Tests isolés et complets grâce aux mixins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67033" y="2343150"/>
            <a:ext cx="2619309" cy="1609724"/>
          </a:xfrm>
          <a:prstGeom prst="roundRect">
            <a:avLst>
              <a:gd name="adj" fmla="val 11834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004" y="2613462"/>
            <a:ext cx="342891" cy="183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57568" y="3019424"/>
            <a:ext cx="144776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D3748"/>
                </a:solidFill>
              </a:rPr>
              <a:t>Complexité Réduite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7528" y="3333749"/>
            <a:ext cx="2238319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Code plus lisible grâce aux décorateurs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4143375"/>
            <a:ext cx="2619309" cy="1609724"/>
          </a:xfrm>
          <a:prstGeom prst="roundRect">
            <a:avLst>
              <a:gd name="adj" fmla="val 11834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0199" y="4385605"/>
            <a:ext cx="342891" cy="239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7268" y="4819650"/>
            <a:ext cx="182875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D3748"/>
                </a:solidFill>
              </a:rPr>
              <a:t>Développement Accéléré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" y="5133975"/>
            <a:ext cx="2238319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Nouveaux canaux ajoutés rapidement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7033" y="4143375"/>
            <a:ext cx="2619309" cy="1609724"/>
          </a:xfrm>
          <a:prstGeom prst="roundRect">
            <a:avLst>
              <a:gd name="adj" fmla="val 11834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0004" y="4360479"/>
            <a:ext cx="342891" cy="2896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00439" y="4819650"/>
            <a:ext cx="11524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D3748"/>
                </a:solidFill>
              </a:rPr>
              <a:t>Moins d'Erreurs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7528" y="5133975"/>
            <a:ext cx="2238319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Validation automatique via descripteurs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6134100"/>
            <a:ext cx="5819629" cy="19431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7228" y="6324599"/>
            <a:ext cx="543863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2D3748"/>
                </a:solidFill>
              </a:rPr>
              <a:t> Recommandations pour Futurs Projets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28" y="6341744"/>
            <a:ext cx="228594" cy="19430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67386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2971" y="6705600"/>
            <a:ext cx="31622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Adopter les métaclasses pour l'auto-configuration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706250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2971" y="7029450"/>
            <a:ext cx="374323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Utiliser les décorateurs pour les fonctionnalités transverses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73863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2971" y="7353299"/>
            <a:ext cx="309554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Privilégier les mixins pour la composition flexible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28" y="771020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42971" y="7677149"/>
            <a:ext cx="286695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A5568"/>
                </a:solidFill>
              </a:rPr>
              <a:t>Intégrer le pattern registry pour l'extensibilité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2580" y="1666874"/>
            <a:ext cx="4762380" cy="2095499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762580" y="3952874"/>
            <a:ext cx="4762380" cy="4124324"/>
          </a:xfrm>
          <a:prstGeom prst="roundRect">
            <a:avLst>
              <a:gd name="adj" fmla="val 5542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53076" y="4143375"/>
            <a:ext cx="438139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2D3748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2D3748"/>
                </a:solidFill>
              </a:rPr>
              <a:t> Leçons Apprises et Best Practices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53076" y="4178617"/>
            <a:ext cx="228594" cy="17716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953076" y="452437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0224" y="4595351"/>
            <a:ext cx="171445" cy="1437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353116" y="4524374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Complexité vs Maintenabilité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3116" y="4743450"/>
            <a:ext cx="3981350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Les métaclasses ajoutent de la complexité initiale mais réduisent la maintenance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53076" y="522922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10224" y="5302966"/>
            <a:ext cx="171445" cy="13826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53116" y="5229225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Architecture Hybride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3116" y="5448300"/>
            <a:ext cx="3981350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Flask + FastAPI offre une flexibilité maximale pour différents cas d'usage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53076" y="59340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10224" y="5999520"/>
            <a:ext cx="171445" cy="15485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53116" y="5934075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Validation Automatique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3116" y="6153149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Les descripteurs et métaclasses garantissent la cohérence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53076" y="646747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299E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10224" y="6532920"/>
            <a:ext cx="171445" cy="15485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353116" y="6467474"/>
            <a:ext cx="39813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956" b="1">
                <a:solidFill>
                  <a:srgbClr val="2D3748"/>
                </a:solidFill>
              </a:rPr>
              <a:t>Extensibilité par 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53116" y="6686550"/>
            <a:ext cx="3981350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A5568"/>
                </a:solidFill>
              </a:rPr>
              <a:t>Les patterns choisis permettent l'ajout sans modification existante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84582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6733" y="8601075"/>
            <a:ext cx="281932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FlashNotify: Architecture Avancée et Concepts POO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3496" y="8601075"/>
            <a:ext cx="37146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858</Words>
  <Application>Microsoft Office PowerPoint</Application>
  <PresentationFormat>Grand écran</PresentationFormat>
  <Paragraphs>134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2025-11-17T10:31:57Z</dcterms:modified>
  <cp:category/>
</cp:coreProperties>
</file>